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Framing slide. The deliverable of this section is an upper bound on what serving-level configuration alone can buy, measured under one frozen software stack. Everything after this slide is measured, not estimated.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definition. The right-hand chart already answers 'is tuning worth it?' with a distribution rather than a headline: for each regime it shows what fraction of the evaluated configurations are wins, flats, regressions or trade-offs relative to that model's own cookbook.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Baseline-fairness slide. The key honesty point: our own earlier 5–9× number was an artifact of a CUDA-Graph-disabled baseline; measured against the true zero-flag default the same winner is 1.00–1.05×. We therefore run the cookbook config inside the grid under the identical harness instead of quoting a historical number.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slide. Full grid enumeration (not TPE) because we need the whole Pareto frontier and the negative results, not one winner. No warm start, no seeded cookbook, no reused study. Backends and CUDA Graph are frozen so that anything we measure is attributable to the four serving knobs. Note chunked_prefill_size=8192 is effectively equal to -1 here because context length is 8192 — that pair doubles as a built-in noise estimate.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 slide. Green cells are improvements, red are regressions; the label at the right of each row is the WIN/FLAT/REGRESSION/TRADE-OFF classification. Deliberately includes flat and negative regimes. The high-concurrency and cross-model numbers come from separate, clearly labelled studies with a different workload definition — they are supporting evidence, not cells of this matrix.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Transfer slide, and the hand-off into the profiling/kernel section. The diagonal is by construction &gt;= 1.00x; what matters is how far the off-diagonal cells fall below it, especially synthetic -&gt; agentic. Ratios are computed against each target regime's own cookbook, so the matrix is dimensionless and comparable across regimes.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85855" cy="777240"/>
          </a:xfrm>
          <a:prstGeom prst="rect">
            <a:avLst/>
          </a:prstGeom>
          <a:noFill/>
        </p:spPr>
        <p:txBody>
          <a:bodyPr wrap="square">
            <a:spAutoFit/>
          </a:bodyPr>
          <a:lstStyle/>
          <a:p>
            <a:r>
              <a:rPr sz="3000" b="1">
                <a:solidFill>
                  <a:srgbClr val="1B2A49"/>
                </a:solidFill>
              </a:rPr>
              <a:t>Finding the Performance Gap in LLM Inference</a:t>
            </a:r>
          </a:p>
          <a:p>
            <a:r>
              <a:rPr sz="1350">
                <a:solidFill>
                  <a:srgbClr val="5A6374"/>
                </a:solidFill>
              </a:rPr>
              <a:t>Qwen3-30B-A3B and LFM2.5-8B-A1B · single H200 · TP1 · BF16 · SGLang</a:t>
            </a:r>
          </a:p>
        </p:txBody>
      </p:sp>
      <p:sp>
        <p:nvSpPr>
          <p:cNvPr id="3" name="TextBox 2"/>
          <p:cNvSpPr txBox="1"/>
          <p:nvPr/>
        </p:nvSpPr>
        <p:spPr>
          <a:xfrm>
            <a:off x="548640" y="1600200"/>
            <a:ext cx="11002975" cy="4206240"/>
          </a:xfrm>
          <a:prstGeom prst="rect">
            <a:avLst/>
          </a:prstGeom>
          <a:noFill/>
        </p:spPr>
        <p:txBody>
          <a:bodyPr wrap="square">
            <a:spAutoFit/>
          </a:bodyPr>
          <a:lstStyle/>
          <a:p>
            <a:pPr>
              <a:spcBef>
                <a:spcPts val="900"/>
              </a:spcBef>
            </a:pPr>
            <a:r>
              <a:rPr sz="1750" b="1">
                <a:solidFill>
                  <a:srgbClr val="3D6FB4"/>
                </a:solidFill>
              </a:rPr>
              <a:t>The question</a:t>
            </a:r>
          </a:p>
          <a:p>
            <a:pPr>
              <a:spcBef>
                <a:spcPts val="300"/>
              </a:spcBef>
            </a:pPr>
            <a:r>
              <a:rPr sz="1600">
                <a:solidFill>
                  <a:srgbClr val="1B2A49"/>
                </a:solidFill>
              </a:rPr>
              <a:t>•  A model that runs is not a model that runs well — how much of the gap is just serving configuration?</a:t>
            </a:r>
          </a:p>
          <a:p>
            <a:pPr>
              <a:spcBef>
                <a:spcPts val="900"/>
              </a:spcBef>
            </a:pPr>
            <a:r>
              <a:rPr sz="1750" b="1">
                <a:solidFill>
                  <a:srgbClr val="3D6FB4"/>
                </a:solidFill>
              </a:rPr>
              <a:t>What we do first</a:t>
            </a:r>
          </a:p>
          <a:p>
            <a:pPr>
              <a:spcBef>
                <a:spcPts val="300"/>
              </a:spcBef>
            </a:pPr>
            <a:r>
              <a:rPr sz="1600">
                <a:solidFill>
                  <a:srgbClr val="1B2A49"/>
                </a:solidFill>
              </a:rPr>
              <a:t>•  Freeze a fair cookbook baseline, then enumerate the serving-configuration space (192 configurations) across six workload regimes.</a:t>
            </a:r>
          </a:p>
          <a:p>
            <a:pPr>
              <a:spcBef>
                <a:spcPts val="300"/>
              </a:spcBef>
            </a:pPr>
            <a:r>
              <a:rPr sz="1600">
                <a:solidFill>
                  <a:srgbClr val="1B2A49"/>
                </a:solidFill>
              </a:rPr>
              <a:t>•  Measure throughput and TTFT / TPOT / E2E percentiles from raw per-request records — no metric is estimated from another.</a:t>
            </a:r>
          </a:p>
          <a:p>
            <a:pPr>
              <a:spcBef>
                <a:spcPts val="900"/>
              </a:spcBef>
            </a:pPr>
            <a:r>
              <a:rPr sz="1750" b="1">
                <a:solidFill>
                  <a:srgbClr val="3D6FB4"/>
                </a:solidFill>
              </a:rPr>
              <a:t>Why it matters</a:t>
            </a:r>
          </a:p>
          <a:p>
            <a:pPr>
              <a:spcBef>
                <a:spcPts val="300"/>
              </a:spcBef>
            </a:pPr>
            <a:r>
              <a:rPr sz="1600">
                <a:solidFill>
                  <a:srgbClr val="1B2A49"/>
                </a:solidFill>
              </a:rPr>
              <a:t>•  Whatever serving tuning cannot close is the gap that profiling, kernels, backends and communication must explain.</a:t>
            </a:r>
          </a:p>
        </p:txBody>
      </p:sp>
      <p:sp>
        <p:nvSpPr>
          <p:cNvPr id="4" name="Rounded Rectangle 3"/>
          <p:cNvSpPr/>
          <p:nvPr/>
        </p:nvSpPr>
        <p:spPr>
          <a:xfrm>
            <a:off x="502920" y="5623560"/>
            <a:ext cx="11185855" cy="566928"/>
          </a:xfrm>
          <a:prstGeom prst="roundRect">
            <a:avLst/>
          </a:prstGeom>
          <a:solidFill>
            <a:srgbClr val="F2F6F3"/>
          </a:solidFill>
          <a:ln w="15240">
            <a:solidFill>
              <a:srgbClr val="3F8F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2A49"/>
                </a:solidFill>
              </a:rPr>
              <a:t>Goal: quantify the serving-level ceiling before blaming the kernels.</a:t>
            </a:r>
          </a:p>
        </p:txBody>
      </p:sp>
      <p:sp>
        <p:nvSpPr>
          <p:cNvPr id="5" name="TextBox 4"/>
          <p:cNvSpPr txBox="1"/>
          <p:nvPr/>
        </p:nvSpPr>
        <p:spPr>
          <a:xfrm>
            <a:off x="502920" y="6473952"/>
            <a:ext cx="11185855" cy="292608"/>
          </a:xfrm>
          <a:prstGeom prst="rect">
            <a:avLst/>
          </a:prstGeom>
          <a:noFill/>
        </p:spPr>
        <p:txBody>
          <a:bodyPr wrap="none">
            <a:spAutoFit/>
          </a:bodyPr>
          <a:lstStyle/>
          <a:p>
            <a:r>
              <a:rPr sz="900">
                <a:solidFill>
                  <a:srgbClr val="5A6374"/>
                </a:solidFill>
              </a:rPr>
              <a:t>results/2026-07-24_serving_ceiling · sglang 0.5.12.post1 @ 17f7a1da1 · torch 2.9.1+cu128 · triton 3.5.1 · driver 580.105.08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85855" cy="777240"/>
          </a:xfrm>
          <a:prstGeom prst="rect">
            <a:avLst/>
          </a:prstGeom>
          <a:noFill/>
        </p:spPr>
        <p:txBody>
          <a:bodyPr wrap="square">
            <a:spAutoFit/>
          </a:bodyPr>
          <a:lstStyle/>
          <a:p>
            <a:r>
              <a:rPr sz="3000" b="1">
                <a:solidFill>
                  <a:srgbClr val="1B2A49"/>
                </a:solidFill>
              </a:rPr>
              <a:t>Runnable does not mean workload-optimal</a:t>
            </a:r>
          </a:p>
        </p:txBody>
      </p:sp>
      <p:sp>
        <p:nvSpPr>
          <p:cNvPr id="3" name="TextBox 2"/>
          <p:cNvSpPr txBox="1"/>
          <p:nvPr/>
        </p:nvSpPr>
        <p:spPr>
          <a:xfrm>
            <a:off x="548640" y="1645920"/>
            <a:ext cx="5577840" cy="4023360"/>
          </a:xfrm>
          <a:prstGeom prst="rect">
            <a:avLst/>
          </a:prstGeom>
          <a:noFill/>
        </p:spPr>
        <p:txBody>
          <a:bodyPr wrap="square">
            <a:spAutoFit/>
          </a:bodyPr>
          <a:lstStyle/>
          <a:p>
            <a:pPr>
              <a:spcBef>
                <a:spcPts val="900"/>
              </a:spcBef>
            </a:pPr>
            <a:r>
              <a:rPr sz="1700" b="1">
                <a:solidFill>
                  <a:srgbClr val="3D6FB4"/>
                </a:solidFill>
              </a:rPr>
              <a:t>Runnable deployment</a:t>
            </a:r>
          </a:p>
          <a:p>
            <a:pPr>
              <a:spcBef>
                <a:spcPts val="300"/>
              </a:spcBef>
            </a:pPr>
            <a:r>
              <a:rPr sz="1550">
                <a:solidFill>
                  <a:srgbClr val="1B2A49"/>
                </a:solidFill>
              </a:rPr>
              <a:t>•  The official cookbook command starts the model and serves traffic correctly.</a:t>
            </a:r>
          </a:p>
          <a:p>
            <a:pPr>
              <a:spcBef>
                <a:spcPts val="900"/>
              </a:spcBef>
            </a:pPr>
            <a:r>
              <a:rPr sz="1700" b="1">
                <a:solidFill>
                  <a:srgbClr val="3D6FB4"/>
                </a:solidFill>
              </a:rPr>
              <a:t>Hidden performance gap</a:t>
            </a:r>
          </a:p>
          <a:p>
            <a:pPr>
              <a:spcBef>
                <a:spcPts val="300"/>
              </a:spcBef>
            </a:pPr>
            <a:r>
              <a:rPr sz="1550">
                <a:solidFill>
                  <a:srgbClr val="1B2A49"/>
                </a:solidFill>
              </a:rPr>
              <a:t>•  The same command is a fixed point in a large configuration space; nothing in it adapts to the traffic you actually receive.</a:t>
            </a:r>
          </a:p>
          <a:p>
            <a:pPr>
              <a:spcBef>
                <a:spcPts val="900"/>
              </a:spcBef>
            </a:pPr>
            <a:r>
              <a:rPr sz="1700" b="1">
                <a:solidFill>
                  <a:srgbClr val="3D6FB4"/>
                </a:solidFill>
              </a:rPr>
              <a:t>The gap moves with the workload</a:t>
            </a:r>
          </a:p>
          <a:p>
            <a:pPr>
              <a:spcBef>
                <a:spcPts val="300"/>
              </a:spcBef>
            </a:pPr>
            <a:r>
              <a:rPr sz="1550">
                <a:solidFill>
                  <a:srgbClr val="1B2A49"/>
                </a:solidFill>
              </a:rPr>
              <a:t>•  Admission capacity, prefill chunking and scheduling interact differently for short decode, long prefill, high concurrency and agentic traffic.</a:t>
            </a:r>
          </a:p>
        </p:txBody>
      </p:sp>
      <p:pic>
        <p:nvPicPr>
          <p:cNvPr id="4" name="Picture 3" descr="gain_distribution.png"/>
          <p:cNvPicPr>
            <a:picLocks noChangeAspect="1"/>
          </p:cNvPicPr>
          <p:nvPr/>
        </p:nvPicPr>
        <p:blipFill>
          <a:blip r:embed="rId2"/>
          <a:stretch>
            <a:fillRect/>
          </a:stretch>
        </p:blipFill>
        <p:spPr>
          <a:xfrm>
            <a:off x="6355080" y="1691640"/>
            <a:ext cx="5394960" cy="2035303"/>
          </a:xfrm>
          <a:prstGeom prst="rect">
            <a:avLst/>
          </a:prstGeom>
        </p:spPr>
      </p:pic>
      <p:sp>
        <p:nvSpPr>
          <p:cNvPr id="5" name="Rounded Rectangle 4"/>
          <p:cNvSpPr/>
          <p:nvPr/>
        </p:nvSpPr>
        <p:spPr>
          <a:xfrm>
            <a:off x="502920" y="5669280"/>
            <a:ext cx="11185855" cy="566928"/>
          </a:xfrm>
          <a:prstGeom prst="roundRect">
            <a:avLst/>
          </a:prstGeom>
          <a:solidFill>
            <a:srgbClr val="F2F6F3"/>
          </a:solidFill>
          <a:ln w="15240">
            <a:solidFill>
              <a:srgbClr val="3F8F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2A49"/>
                </a:solidFill>
              </a:rPr>
              <a:t>Same deployment, different traffic — the reachable gain is not a single number.</a:t>
            </a:r>
          </a:p>
        </p:txBody>
      </p:sp>
      <p:sp>
        <p:nvSpPr>
          <p:cNvPr id="6" name="TextBox 5"/>
          <p:cNvSpPr txBox="1"/>
          <p:nvPr/>
        </p:nvSpPr>
        <p:spPr>
          <a:xfrm>
            <a:off x="502920" y="6473952"/>
            <a:ext cx="11185855" cy="292608"/>
          </a:xfrm>
          <a:prstGeom prst="rect">
            <a:avLst/>
          </a:prstGeom>
          <a:noFill/>
        </p:spPr>
        <p:txBody>
          <a:bodyPr wrap="none">
            <a:spAutoFit/>
          </a:bodyPr>
          <a:lstStyle/>
          <a:p>
            <a:r>
              <a:rPr sz="900">
                <a:solidFill>
                  <a:srgbClr val="5A6374"/>
                </a:solidFill>
              </a:rPr>
              <a:t>results/2026-07-24_serving_ceiling/plots/gain_distribution.png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85855" cy="777240"/>
          </a:xfrm>
          <a:prstGeom prst="rect">
            <a:avLst/>
          </a:prstGeom>
          <a:noFill/>
        </p:spPr>
        <p:txBody>
          <a:bodyPr wrap="square">
            <a:spAutoFit/>
          </a:bodyPr>
          <a:lstStyle/>
          <a:p>
            <a:r>
              <a:rPr sz="3000" b="1">
                <a:solidFill>
                  <a:srgbClr val="1B2A49"/>
                </a:solidFill>
              </a:rPr>
              <a:t>Freeze a fair baseline before measuring the gap</a:t>
            </a:r>
          </a:p>
        </p:txBody>
      </p:sp>
      <p:sp>
        <p:nvSpPr>
          <p:cNvPr id="3" name="TextBox 2"/>
          <p:cNvSpPr txBox="1"/>
          <p:nvPr/>
        </p:nvSpPr>
        <p:spPr>
          <a:xfrm>
            <a:off x="548640" y="1600200"/>
            <a:ext cx="11002975" cy="4297680"/>
          </a:xfrm>
          <a:prstGeom prst="rect">
            <a:avLst/>
          </a:prstGeom>
          <a:noFill/>
        </p:spPr>
        <p:txBody>
          <a:bodyPr wrap="square">
            <a:spAutoFit/>
          </a:bodyPr>
          <a:lstStyle/>
          <a:p>
            <a:pPr>
              <a:spcBef>
                <a:spcPts val="900"/>
              </a:spcBef>
            </a:pPr>
            <a:r>
              <a:rPr sz="1600" b="1">
                <a:solidFill>
                  <a:srgbClr val="3D6FB4"/>
                </a:solidFill>
              </a:rPr>
              <a:t>What the cookbook gives</a:t>
            </a:r>
          </a:p>
          <a:p>
            <a:pPr>
              <a:spcBef>
                <a:spcPts val="300"/>
              </a:spcBef>
            </a:pPr>
            <a:r>
              <a:rPr sz="1450">
                <a:solidFill>
                  <a:srgbClr val="1B2A49"/>
                </a:solidFill>
              </a:rPr>
              <a:t>•  Official deployment command for this model / GPU / dtype cell.</a:t>
            </a:r>
          </a:p>
          <a:p>
            <a:pPr>
              <a:spcBef>
                <a:spcPts val="300"/>
              </a:spcBef>
            </a:pPr>
            <a:r>
              <a:rPr sz="1450">
                <a:solidFill>
                  <a:srgbClr val="1B2A49"/>
                </a:solidFill>
              </a:rPr>
              <a:t>•  A supported, reproducible starting configuration.</a:t>
            </a:r>
          </a:p>
          <a:p>
            <a:pPr>
              <a:spcBef>
                <a:spcPts val="900"/>
              </a:spcBef>
            </a:pPr>
            <a:r>
              <a:rPr sz="1600" b="1">
                <a:solidFill>
                  <a:srgbClr val="3D6FB4"/>
                </a:solidFill>
              </a:rPr>
              <a:t>What we additionally freeze</a:t>
            </a:r>
          </a:p>
          <a:p>
            <a:pPr>
              <a:spcBef>
                <a:spcPts val="300"/>
              </a:spcBef>
            </a:pPr>
            <a:r>
              <a:rPr sz="1450">
                <a:solidFill>
                  <a:srgbClr val="1B2A49"/>
                </a:solidFill>
              </a:rPr>
              <a:t>•  Software: sglang 0.5.12.post1 @ 17f7a1da1, torch 2.9.1+cu128, triton 3.5.1.</a:t>
            </a:r>
          </a:p>
          <a:p>
            <a:pPr>
              <a:spcBef>
                <a:spcPts val="300"/>
              </a:spcBef>
            </a:pPr>
            <a:r>
              <a:rPr sz="1450">
                <a:solidFill>
                  <a:srgbClr val="1B2A49"/>
                </a:solidFill>
              </a:rPr>
              <a:t>•  Resolved execution path: attention backend fa3, MoE runner auto, CUDA Graph on — parsed from every server log, not assumed.</a:t>
            </a:r>
          </a:p>
          <a:p>
            <a:pPr>
              <a:spcBef>
                <a:spcPts val="300"/>
              </a:spcBef>
            </a:pPr>
            <a:r>
              <a:rPr sz="1450">
                <a:solidFill>
                  <a:srgbClr val="1B2A49"/>
                </a:solidFill>
              </a:rPr>
              <a:t>•  Identical workloads, seeds and request payloads for every configuration.</a:t>
            </a:r>
          </a:p>
          <a:p>
            <a:pPr>
              <a:spcBef>
                <a:spcPts val="900"/>
              </a:spcBef>
            </a:pPr>
            <a:r>
              <a:rPr sz="1600" b="1">
                <a:solidFill>
                  <a:srgbClr val="3D6FB4"/>
                </a:solidFill>
              </a:rPr>
              <a:t>Why it matters</a:t>
            </a:r>
          </a:p>
          <a:p>
            <a:pPr>
              <a:spcBef>
                <a:spcPts val="300"/>
              </a:spcBef>
            </a:pPr>
            <a:r>
              <a:rPr sz="1450">
                <a:solidFill>
                  <a:srgbClr val="1B2A49"/>
                </a:solidFill>
              </a:rPr>
              <a:t>•  No stale or handicapped baseline: the 2026-06-11 '5–9×' result came from a CUDA-Graph-disabled reference and collapses to 1.00–1.05× against the true default.</a:t>
            </a:r>
          </a:p>
          <a:p>
            <a:pPr>
              <a:spcBef>
                <a:spcPts val="300"/>
              </a:spcBef>
            </a:pPr>
            <a:r>
              <a:rPr sz="1450">
                <a:solidFill>
                  <a:srgbClr val="1B2A49"/>
                </a:solidFill>
              </a:rPr>
              <a:t>•  Every claimed gap has a reproducible reference point.</a:t>
            </a:r>
          </a:p>
        </p:txBody>
      </p:sp>
      <p:sp>
        <p:nvSpPr>
          <p:cNvPr id="4" name="Rounded Rectangle 3"/>
          <p:cNvSpPr/>
          <p:nvPr/>
        </p:nvSpPr>
        <p:spPr>
          <a:xfrm>
            <a:off x="502920" y="5806440"/>
            <a:ext cx="11185855" cy="566928"/>
          </a:xfrm>
          <a:prstGeom prst="roundRect">
            <a:avLst/>
          </a:prstGeom>
          <a:solidFill>
            <a:srgbClr val="F2F6F3"/>
          </a:solidFill>
          <a:ln w="15240">
            <a:solidFill>
              <a:srgbClr val="D084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2A49"/>
                </a:solidFill>
              </a:rPr>
              <a:t>The baseline is measured under the identical protocol — it is configuration #74 inside the same grid.</a:t>
            </a:r>
          </a:p>
        </p:txBody>
      </p:sp>
      <p:sp>
        <p:nvSpPr>
          <p:cNvPr id="5" name="TextBox 4"/>
          <p:cNvSpPr txBox="1"/>
          <p:nvPr/>
        </p:nvSpPr>
        <p:spPr>
          <a:xfrm>
            <a:off x="502920" y="6473952"/>
            <a:ext cx="11185855" cy="292608"/>
          </a:xfrm>
          <a:prstGeom prst="rect">
            <a:avLst/>
          </a:prstGeom>
          <a:noFill/>
        </p:spPr>
        <p:txBody>
          <a:bodyPr wrap="none">
            <a:spAutoFit/>
          </a:bodyPr>
          <a:lstStyle/>
          <a:p>
            <a:r>
              <a:rPr sz="900">
                <a:solidFill>
                  <a:srgbClr val="5A6374"/>
                </a:solidFill>
              </a:rPr>
              <a:t>results/2026-07-24_serving_ceiling/baseline_definition.json · docs/2026-06-25/autotuning_honest_results.md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85855" cy="777240"/>
          </a:xfrm>
          <a:prstGeom prst="rect">
            <a:avLst/>
          </a:prstGeom>
          <a:noFill/>
        </p:spPr>
        <p:txBody>
          <a:bodyPr wrap="square">
            <a:spAutoFit/>
          </a:bodyPr>
          <a:lstStyle/>
          <a:p>
            <a:r>
              <a:rPr sz="3000" b="1">
                <a:solidFill>
                  <a:srgbClr val="1B2A49"/>
                </a:solidFill>
              </a:rPr>
              <a:t>How we search the serving configuration space</a:t>
            </a:r>
          </a:p>
        </p:txBody>
      </p:sp>
      <p:pic>
        <p:nvPicPr>
          <p:cNvPr id="3" name="Picture 2" descr="search_space_overview.png"/>
          <p:cNvPicPr>
            <a:picLocks noChangeAspect="1"/>
          </p:cNvPicPr>
          <p:nvPr/>
        </p:nvPicPr>
        <p:blipFill>
          <a:blip r:embed="rId2"/>
          <a:stretch>
            <a:fillRect/>
          </a:stretch>
        </p:blipFill>
        <p:spPr>
          <a:xfrm>
            <a:off x="548640" y="1371600"/>
            <a:ext cx="11094415" cy="5892028"/>
          </a:xfrm>
          <a:prstGeom prst="rect">
            <a:avLst/>
          </a:prstGeom>
        </p:spPr>
      </p:pic>
      <p:sp>
        <p:nvSpPr>
          <p:cNvPr id="4" name="TextBox 3"/>
          <p:cNvSpPr txBox="1"/>
          <p:nvPr/>
        </p:nvSpPr>
        <p:spPr>
          <a:xfrm>
            <a:off x="502920" y="6473952"/>
            <a:ext cx="11185855" cy="292608"/>
          </a:xfrm>
          <a:prstGeom prst="rect">
            <a:avLst/>
          </a:prstGeom>
          <a:noFill/>
        </p:spPr>
        <p:txBody>
          <a:bodyPr wrap="none">
            <a:spAutoFit/>
          </a:bodyPr>
          <a:lstStyle/>
          <a:p>
            <a:r>
              <a:rPr sz="900">
                <a:solidFill>
                  <a:srgbClr val="5A6374"/>
                </a:solidFill>
              </a:rPr>
              <a:t>results/2026-07-24_serving_ceiling/search_space.yaml · results/2026-07-24_serving_ceiling/workloads.yaml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85855" cy="777240"/>
          </a:xfrm>
          <a:prstGeom prst="rect">
            <a:avLst/>
          </a:prstGeom>
          <a:noFill/>
        </p:spPr>
        <p:txBody>
          <a:bodyPr wrap="square">
            <a:spAutoFit/>
          </a:bodyPr>
          <a:lstStyle/>
          <a:p>
            <a:r>
              <a:rPr sz="3000" b="1">
                <a:solidFill>
                  <a:srgbClr val="1B2A49"/>
                </a:solidFill>
              </a:rPr>
              <a:t>What serving tuning actually finds: wins, flats, regressions, trade-offs</a:t>
            </a:r>
          </a:p>
        </p:txBody>
      </p:sp>
      <p:pic>
        <p:nvPicPr>
          <p:cNvPr id="3" name="Picture 2" descr="full_result_matrix_heatmap.png"/>
          <p:cNvPicPr>
            <a:picLocks noChangeAspect="1"/>
          </p:cNvPicPr>
          <p:nvPr/>
        </p:nvPicPr>
        <p:blipFill>
          <a:blip r:embed="rId2"/>
          <a:stretch>
            <a:fillRect/>
          </a:stretch>
        </p:blipFill>
        <p:spPr>
          <a:xfrm>
            <a:off x="457200" y="1234440"/>
            <a:ext cx="7772400" cy="3422874"/>
          </a:xfrm>
          <a:prstGeom prst="rect">
            <a:avLst/>
          </a:prstGeom>
        </p:spPr>
      </p:pic>
      <p:sp>
        <p:nvSpPr>
          <p:cNvPr id="4" name="TextBox 3"/>
          <p:cNvSpPr txBox="1"/>
          <p:nvPr/>
        </p:nvSpPr>
        <p:spPr>
          <a:xfrm>
            <a:off x="8366760" y="1371600"/>
            <a:ext cx="3429000" cy="4297680"/>
          </a:xfrm>
          <a:prstGeom prst="rect">
            <a:avLst/>
          </a:prstGeom>
          <a:noFill/>
        </p:spPr>
        <p:txBody>
          <a:bodyPr wrap="square">
            <a:spAutoFit/>
          </a:bodyPr>
          <a:lstStyle/>
          <a:p>
            <a:pPr>
              <a:spcBef>
                <a:spcPts val="900"/>
              </a:spcBef>
            </a:pPr>
            <a:r>
              <a:rPr sz="1300" b="1">
                <a:solidFill>
                  <a:srgbClr val="3D6FB4"/>
                </a:solidFill>
              </a:rPr>
              <a:t>Read the matrix</a:t>
            </a:r>
          </a:p>
          <a:p>
            <a:pPr>
              <a:spcBef>
                <a:spcPts val="300"/>
              </a:spcBef>
            </a:pPr>
            <a:r>
              <a:rPr sz="1150">
                <a:solidFill>
                  <a:srgbClr val="1B2A49"/>
                </a:solidFill>
              </a:rPr>
              <a:t>•  lfm25: largest gain +79% (shared_prefix); smallest +0% (tool_agent).</a:t>
            </a:r>
          </a:p>
          <a:p>
            <a:pPr>
              <a:spcBef>
                <a:spcPts val="300"/>
              </a:spcBef>
            </a:pPr>
            <a:r>
              <a:rPr sz="1150">
                <a:solidFill>
                  <a:srgbClr val="1B2A49"/>
                </a:solidFill>
              </a:rPr>
              <a:t>•  qwen: largest gain +28% (shared_prefix); smallest +0% (R_long_prefill).</a:t>
            </a:r>
          </a:p>
          <a:p>
            <a:pPr>
              <a:spcBef>
                <a:spcPts val="900"/>
              </a:spcBef>
            </a:pPr>
            <a:r>
              <a:rPr sz="1300" b="1">
                <a:solidFill>
                  <a:srgbClr val="3D6FB4"/>
                </a:solidFill>
              </a:rPr>
              <a:t>Also on the record</a:t>
            </a:r>
          </a:p>
          <a:p>
            <a:pPr>
              <a:spcBef>
                <a:spcPts val="300"/>
              </a:spcBef>
            </a:pPr>
            <a:r>
              <a:rPr sz="1150">
                <a:solidFill>
                  <a:srgbClr val="1B2A49"/>
                </a:solidFill>
              </a:rPr>
              <a:t>•  Historical Qwen autotuning vs a correct baseline: 1.00–1.05× (flat).</a:t>
            </a:r>
          </a:p>
          <a:p>
            <a:pPr>
              <a:spcBef>
                <a:spcPts val="300"/>
              </a:spcBef>
            </a:pPr>
            <a:r>
              <a:rPr sz="1150">
                <a:solidFill>
                  <a:srgbClr val="1B2A49"/>
                </a:solidFill>
              </a:rPr>
              <a:t>•  High-concurrency stress study: throughput 1.40–2.44× and TTFT p50/p95 −85…−96 %, driven almost entirely by admission capacity.</a:t>
            </a:r>
          </a:p>
          <a:p>
            <a:pPr>
              <a:spcBef>
                <a:spcPts val="300"/>
              </a:spcBef>
            </a:pPr>
            <a:r>
              <a:rPr sz="1150">
                <a:solidFill>
                  <a:srgbClr val="1B2A49"/>
                </a:solidFill>
              </a:rPr>
              <a:t>•  The same chunking candidate helps LFM2.5 shared-prefix (+28.6 % req/s) and is neutral on Qwen (−2.9 %).</a:t>
            </a:r>
          </a:p>
        </p:txBody>
      </p:sp>
      <p:sp>
        <p:nvSpPr>
          <p:cNvPr id="5" name="Rounded Rectangle 4"/>
          <p:cNvSpPr/>
          <p:nvPr/>
        </p:nvSpPr>
        <p:spPr>
          <a:xfrm>
            <a:off x="502920" y="5806440"/>
            <a:ext cx="11185855" cy="566928"/>
          </a:xfrm>
          <a:prstGeom prst="roundRect">
            <a:avLst/>
          </a:prstGeom>
          <a:solidFill>
            <a:srgbClr val="F2F6F3"/>
          </a:solidFill>
          <a:ln w="15240">
            <a:solidFill>
              <a:srgbClr val="3F8F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2A49"/>
                </a:solidFill>
              </a:rPr>
              <a:t>Serving tuning finds workload-specific cliffs, not a universal winner.</a:t>
            </a:r>
          </a:p>
        </p:txBody>
      </p:sp>
      <p:sp>
        <p:nvSpPr>
          <p:cNvPr id="6" name="TextBox 5"/>
          <p:cNvSpPr txBox="1"/>
          <p:nvPr/>
        </p:nvSpPr>
        <p:spPr>
          <a:xfrm>
            <a:off x="502920" y="6473952"/>
            <a:ext cx="11185855" cy="292608"/>
          </a:xfrm>
          <a:prstGeom prst="rect">
            <a:avLst/>
          </a:prstGeom>
          <a:noFill/>
        </p:spPr>
        <p:txBody>
          <a:bodyPr wrap="none">
            <a:spAutoFit/>
          </a:bodyPr>
          <a:lstStyle/>
          <a:p>
            <a:r>
              <a:rPr sz="900">
                <a:solidFill>
                  <a:srgbClr val="5A6374"/>
                </a:solidFill>
              </a:rPr>
              <a:t>results/2026-07-24_serving_ceiling/summary_matrix.csv · results/2026-07-23_high_concurrency_ttft_rerun/comparison.md · results/consolidated_v7_config_sweep.csv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1185855" cy="777240"/>
          </a:xfrm>
          <a:prstGeom prst="rect">
            <a:avLst/>
          </a:prstGeom>
          <a:noFill/>
        </p:spPr>
        <p:txBody>
          <a:bodyPr wrap="square">
            <a:spAutoFit/>
          </a:bodyPr>
          <a:lstStyle/>
          <a:p>
            <a:r>
              <a:rPr sz="3000" b="1">
                <a:solidFill>
                  <a:srgbClr val="1B2A49"/>
                </a:solidFill>
              </a:rPr>
              <a:t>Synthetic winners do not transfer reliably to agentic workloads</a:t>
            </a:r>
          </a:p>
        </p:txBody>
      </p:sp>
      <p:pic>
        <p:nvPicPr>
          <p:cNvPr id="3" name="Picture 2" descr="transfer_matrix_request_throughput_lfm25.png"/>
          <p:cNvPicPr>
            <a:picLocks noChangeAspect="1"/>
          </p:cNvPicPr>
          <p:nvPr/>
        </p:nvPicPr>
        <p:blipFill>
          <a:blip r:embed="rId2"/>
          <a:stretch>
            <a:fillRect/>
          </a:stretch>
        </p:blipFill>
        <p:spPr>
          <a:xfrm>
            <a:off x="457200" y="1325880"/>
            <a:ext cx="5943600" cy="3103752"/>
          </a:xfrm>
          <a:prstGeom prst="rect">
            <a:avLst/>
          </a:prstGeom>
        </p:spPr>
      </p:pic>
      <p:pic>
        <p:nvPicPr>
          <p:cNvPr id="4" name="Picture 3" descr="per_regime_pareto_grid_lfm25.png"/>
          <p:cNvPicPr>
            <a:picLocks noChangeAspect="1"/>
          </p:cNvPicPr>
          <p:nvPr/>
        </p:nvPicPr>
        <p:blipFill>
          <a:blip r:embed="rId3"/>
          <a:stretch>
            <a:fillRect/>
          </a:stretch>
        </p:blipFill>
        <p:spPr>
          <a:xfrm>
            <a:off x="6492240" y="1325880"/>
            <a:ext cx="5303520" cy="3067593"/>
          </a:xfrm>
          <a:prstGeom prst="rect">
            <a:avLst/>
          </a:prstGeom>
        </p:spPr>
      </p:pic>
      <p:sp>
        <p:nvSpPr>
          <p:cNvPr id="5" name="TextBox 4"/>
          <p:cNvSpPr txBox="1"/>
          <p:nvPr/>
        </p:nvSpPr>
        <p:spPr>
          <a:xfrm>
            <a:off x="548640" y="5074920"/>
            <a:ext cx="11002975" cy="822960"/>
          </a:xfrm>
          <a:prstGeom prst="rect">
            <a:avLst/>
          </a:prstGeom>
          <a:noFill/>
        </p:spPr>
        <p:txBody>
          <a:bodyPr wrap="square">
            <a:spAutoFit/>
          </a:bodyPr>
          <a:lstStyle/>
          <a:p>
            <a:pPr>
              <a:spcBef>
                <a:spcPts val="300"/>
              </a:spcBef>
            </a:pPr>
            <a:r>
              <a:rPr sz="1250">
                <a:solidFill>
                  <a:srgbClr val="1B2A49"/>
                </a:solidFill>
              </a:rPr>
              <a:t>•  Rows are configurations that won some regime; columns are the regimes they are then applied to. Off-diagonal cells below 1.00× are failed transfers.</a:t>
            </a:r>
          </a:p>
          <a:p>
            <a:pPr>
              <a:spcBef>
                <a:spcPts val="300"/>
              </a:spcBef>
            </a:pPr>
            <a:r>
              <a:rPr sz="1250">
                <a:solidFill>
                  <a:srgbClr val="1B2A49"/>
                </a:solidFill>
              </a:rPr>
              <a:t>•  Shared-prefix and tool-agent Pareto fronts show all evaluated points; cookbook is the star, the validated throughput winner is the diamond.</a:t>
            </a:r>
          </a:p>
        </p:txBody>
      </p:sp>
      <p:sp>
        <p:nvSpPr>
          <p:cNvPr id="6" name="Rounded Rectangle 5"/>
          <p:cNvSpPr/>
          <p:nvPr/>
        </p:nvSpPr>
        <p:spPr>
          <a:xfrm>
            <a:off x="502920" y="5943600"/>
            <a:ext cx="11185855" cy="566928"/>
          </a:xfrm>
          <a:prstGeom prst="roundRect">
            <a:avLst/>
          </a:prstGeom>
          <a:solidFill>
            <a:srgbClr val="F2F6F3"/>
          </a:solidFill>
          <a:ln w="15240">
            <a:solidFill>
              <a:srgbClr val="3D6F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B2A49"/>
                </a:solidFill>
              </a:rPr>
              <a:t>Serving search selects points on the frontier.  Profiling is needed to move the frontier.</a:t>
            </a:r>
          </a:p>
        </p:txBody>
      </p:sp>
      <p:sp>
        <p:nvSpPr>
          <p:cNvPr id="7" name="TextBox 6"/>
          <p:cNvSpPr txBox="1"/>
          <p:nvPr/>
        </p:nvSpPr>
        <p:spPr>
          <a:xfrm>
            <a:off x="502920" y="6473952"/>
            <a:ext cx="11185855" cy="292608"/>
          </a:xfrm>
          <a:prstGeom prst="rect">
            <a:avLst/>
          </a:prstGeom>
          <a:noFill/>
        </p:spPr>
        <p:txBody>
          <a:bodyPr wrap="none">
            <a:spAutoFit/>
          </a:bodyPr>
          <a:lstStyle/>
          <a:p>
            <a:r>
              <a:rPr sz="900">
                <a:solidFill>
                  <a:srgbClr val="5A6374"/>
                </a:solidFill>
              </a:rPr>
              <a:t>results/2026-07-24_serving_ceiling/analysis/lfm25/transfer_matrix_request_throughput.csv · results/2026-07-24_serving_ceiling/analysis/lfm25/pareto_points.csv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